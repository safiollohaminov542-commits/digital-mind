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Title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Body</a:t>
            </a:r>
          </a:p>
        </p:txBody>
      </p:sp>
      <p:sp>
        <p:nvSpPr>
          <p:cNvPr id="4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CtrTitle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SubTitle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/>
              <a:t>Title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/>
          <a:lstStyle/>
          <a:p>
            <a:r>
              <a:rPr lang="ru-RU"/>
              <a:t>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 b="1">
          <a:solidFill>
            <a:srgbClr val="1F2A66"/>
          </a:solidFill>
          <a:latin typeface="Calibri"/>
        </a:defRPr>
      </a:lvl1pPr>
    </p:titleStyle>
    <p:bodyStyle>
      <a:lvl1pPr marL="285750" indent="-285750">
        <a:buChar char="•"/>
        <a:defRPr sz="1800">
          <a:solidFill>
            <a:srgbClr val="404040"/>
          </a:solidFill>
          <a:latin typeface="Calibri"/>
        </a:defRPr>
      </a:lvl1pPr>
      <a:lvl2pPr marL="742950" indent="-285750">
        <a:buChar char="–"/>
        <a:defRPr sz="1600">
          <a:solidFill>
            <a:srgbClr val="595959"/>
          </a:solidFill>
          <a:latin typeface="Calibri"/>
        </a:defRPr>
      </a:lvl2pPr>
      <a:lvl3pPr marL="1200150" indent="-285750">
        <a:buChar char="•"/>
        <a:defRPr sz="1500">
          <a:solidFill>
            <a:srgbClr val="595959"/>
          </a:solidFill>
          <a:latin typeface="Calibri"/>
        </a:defRPr>
      </a:lvl3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10820400" cy="2286000"/>
          </a:xfrm>
        </p:spPr>
        <p:txBody>
          <a:bodyPr/>
          <a:lstStyle/>
          <a:p>
            <a:r>
              <a:rPr lang="ru-RU" sz="4000" b="1">
                <a:solidFill>
                  <a:srgbClr val="1F2A66"/>
                </a:solidFill>
              </a:rPr>
              <a:t>Маркетинговая контент-стратегия: Somoni Digital Agency (2026)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85800" y="4343400"/>
            <a:ext cx="10820400" cy="1000000"/>
          </a:xfrm>
        </p:spPr>
        <p:txBody>
          <a:bodyPr/>
          <a:lstStyle/>
          <a:p>
            <a:r>
              <a:rPr lang="ru-RU" sz="2000">
                <a:solidFill>
                  <a:srgbClr val="7A3FA0"/>
                </a:solidFill>
              </a:rPr>
              <a:t>Маркетинг • Автоматизация • Контент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1. Контекст и цели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500">
                <a:solidFill>
                  <a:srgbClr val="404040"/>
                </a:solidFill>
              </a:rPr>
              <a:t>Somoni Digital Agency позиционирует себя как архитектора бизнес-роста (Маркетинг • Автоматизация • Контент). В 2026 году на рынке Таджикистана растет конкуренция среди агентств, поэтому цель стратегии — закрепить за брендом статус экспертов №1, которым можно доверить автоматизацию и масштабирование.</a:t>
            </a:r>
          </a:p>
          <a:p>
            <a:pPr lvl="0"/>
            <a:r>
              <a:rPr lang="ru-RU" sz="1500">
                <a:solidFill>
                  <a:srgbClr val="404040"/>
                </a:solidFill>
              </a:rPr>
              <a:t>Узнаваемость (Awareness): Охватить 60% малого и среднего бизнеса (МСБ) в Душанбе, Худжанде и других крупных городах через полезный контент.</a:t>
            </a:r>
          </a:p>
          <a:p>
            <a:pPr lvl="0"/>
            <a:r>
              <a:rPr lang="ru-RU" sz="1500">
                <a:solidFill>
                  <a:srgbClr val="404040"/>
                </a:solidFill>
              </a:rPr>
              <a:t>Вовлеченность (Engagement): Повысить ER в Instagram и Telegram, создавая дискуссии вокруг болей таджикских предпринимателей.</a:t>
            </a:r>
          </a:p>
          <a:p>
            <a:pPr lvl="0"/>
            <a:r>
              <a:rPr lang="ru-RU" sz="1500">
                <a:solidFill>
                  <a:srgbClr val="404040"/>
                </a:solidFill>
              </a:rPr>
              <a:t>Продажи (Leads): Превратить контент в лид-магниты (получение заявок на аудит маркетинга или автоматизацию).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Экосистема каналов 2026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600">
                <a:solidFill>
                  <a:srgbClr val="404040"/>
                </a:solidFill>
              </a:rPr>
              <a:t>Instagram: Основная витрина. Фокус на Reels (личность, тренды, экспертность) и Stories (внутренняя кухня, лайв).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Telegram: Главный B2B-канал. Экспертные лонгриды, разборы кейсов, файлы/чек-листы для скачивания, новости digital в РТ.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YouTube: Разбор масштабных кейсов (видео-интервью с клиентами), подкасты про бизнес в Таджикистане.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WhatsApp: Инструмент рассылок и автоматизации (через чат-боты) для лидогенерации и удержания.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2. Анализ аудитории в Таджикистане (2026)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800" b="1">
                <a:solidFill>
                  <a:srgbClr val="404040"/>
                </a:solidFill>
              </a:rPr>
              <a:t>Портрет целевой аудитории (B2B)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Кто они: Владельцы бизнеса (рестораны, ритейл, производство, застройщики, клиники), стартаперы, коммерческие директора.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Возраст: 25–45 лет.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Ценности: Уважение, репутация, семейные ценности (многие бизнесы — семейные), экономия времени, измеримый результат (прибыль).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Медиаповедение: Активно сидят в Instagram (визуал, личные бренды) и Telegram (бизнес-чаты, новости). WhatsApp — для оперативной связи.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Мотивация и триггеры 2026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700">
                <a:solidFill>
                  <a:srgbClr val="404040"/>
                </a:solidFill>
              </a:rPr>
              <a:t>Таджикский бизнес устал от «просто красивых картинок» в SMM. В 2026 году их мотивирует оцифровка и автоматизация, так как не хватает квалифицированных кадров, и CRM/чат-боты решают проблему контроля.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Что цепляет: Локальный контекст (понимание болей именно в РТ), демонстрация команды, честность (показ не только успехов, но и факапов).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3. Тренды и культурные особенности (РТ 2026)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600">
                <a:solidFill>
                  <a:srgbClr val="404040"/>
                </a:solidFill>
              </a:rPr>
              <a:t>UGC и Хуманизация: Люди покупают у людей. Бренд Somoni Digital должен ассоциироваться с лицами его сотрудников и основателей.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Двуязычие: Контент должен гибко сочетать таджикский и русский языки. Экспертные посты — часто микс (таджикский для души и ценностей, русский/таджикский для технических терминов).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Культурный код: Строгое табу на агрессивный, хайповый контент, нарушающий нормы этики и уважения (эвфемизмы, уважительное обращение «Шумо»). Уважение к традициям при подаче инноваций.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4. Контент-план и матрица форматов — Частота публикаций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700">
                <a:solidFill>
                  <a:srgbClr val="404040"/>
                </a:solidFill>
              </a:rPr>
              <a:t>Instagram: 3–4 Reels в неделю, ежедневные Stories (5–7 шт), 1–2 статичных поста/карусели.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Telegram: 3–4 поста в неделю (чередование: кейс, польза, инсайд, интерактив).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YouTube: 1 большое видео в 2 недели + Shorts из него.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Матрица контента для Somoni Digital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400">
                <a:solidFill>
                  <a:srgbClr val="404040"/>
                </a:solidFill>
              </a:rPr>
              <a:t>Репутационный | Кто мы, команда, ценности | Видео-визитки, бэкстейдж | «Как проходит утро в Somoni Digital»</a:t>
            </a:r>
          </a:p>
          <a:p>
            <a:pPr lvl="0"/>
            <a:r>
              <a:rPr lang="ru-RU" sz="1400">
                <a:solidFill>
                  <a:srgbClr val="404040"/>
                </a:solidFill>
              </a:rPr>
              <a:t>Экспертный | Автоматизация, CRM, маркетинг | Карусели, Скринкасты, TG-лонгриды | «Как CRM-система сберегла $2000 таджикскому бренду одежды»</a:t>
            </a:r>
          </a:p>
          <a:p>
            <a:pPr lvl="0"/>
            <a:r>
              <a:rPr lang="ru-RU" sz="1400">
                <a:solidFill>
                  <a:srgbClr val="404040"/>
                </a:solidFill>
              </a:rPr>
              <a:t>Развлекательный | Боли digital-сферы в РТ | Reels-жиза, мемы, интерактивы | «Когда клиент просит "сделать логотип по-братски"»</a:t>
            </a:r>
          </a:p>
          <a:p>
            <a:pPr lvl="0"/>
            <a:r>
              <a:rPr lang="ru-RU" sz="1400">
                <a:solidFill>
                  <a:srgbClr val="404040"/>
                </a:solidFill>
              </a:rPr>
              <a:t>Кейсы (Результат) | Портфолио, цифры, отзывы | YouTube-интервью, До/После | Разбор кейса автоматизации крупной сети кафе в Душанбе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5. Тон коммуникации (Tone of Voice)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700">
                <a:solidFill>
                  <a:srgbClr val="404040"/>
                </a:solidFill>
              </a:rPr>
              <a:t>Профессиональный, но доступный: Без сложного академического сленга. Объясняем «на пальцах».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Уверенный и уважительный: Общение на равных с бизнесом, с глубоким уважением к труду предпринимателя.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Энергичный: Мы — двигатели прогресса и автоматизации.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Визуальный стиль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700">
                <a:solidFill>
                  <a:srgbClr val="404040"/>
                </a:solidFill>
              </a:rPr>
              <a:t>Цвета: Глубокий синий/технологичный фиолетовый (доверие, IT) в сочетании с ярким акцентом (например, неон или золото/оранжевый для динамики).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Стиль: Минимализм, качественные фотографии команды, «живое» видео без перебора с тяжелой графикой. В тренде 2026 года — естественные цвета и высокая четкость (4K).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6. Метрики эффективности (KPI)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600">
                <a:solidFill>
                  <a:srgbClr val="404040"/>
                </a:solidFill>
              </a:rPr>
              <a:t>Качественные: Рост упоминаний бренда в бизнес-сообществе РТ, комментарии с запросом стоимости («Цена?», «Проверьте мой бизнес»).</a:t>
            </a:r>
          </a:p>
          <a:p>
            <a:pPr lvl="0"/>
            <a:r>
              <a:rPr lang="ru-RU" sz="1700" b="1">
                <a:solidFill>
                  <a:srgbClr val="404040"/>
                </a:solidFill>
              </a:rPr>
              <a:t>Количественные: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ER (Вовлеченность): Выше 4% в Instagram.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Охваты: Доля не подписчиков в Reels (цель — &gt;60% для роста).</a:t>
            </a:r>
          </a:p>
          <a:p>
            <a:pPr lvl="1"/>
            <a:r>
              <a:rPr lang="ru-RU" sz="1500">
                <a:solidFill>
                  <a:srgbClr val="404040"/>
                </a:solidFill>
              </a:rPr>
              <a:t>Лидогенерация: Количество переходов из Instagram/Telegram в WhatsApp-бот на бесплатный аудит.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7. План реализации и ресурсы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600">
                <a:solidFill>
                  <a:srgbClr val="404040"/>
                </a:solidFill>
              </a:rPr>
              <a:t>Этап 1: Исследование и Упаковка (1–2 недели). Съемка команды, оцифровка кейсов, создание шаблонов.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Этап 2: Тест (Месяц 1). Запуск регулярного контента, тестирование гипотез (какие боли аудитории триггерят сильнее).</a:t>
            </a:r>
          </a:p>
          <a:p>
            <a:pPr lvl="0"/>
            <a:r>
              <a:rPr lang="ru-RU" sz="1600">
                <a:solidFill>
                  <a:srgbClr val="404040"/>
                </a:solidFill>
              </a:rPr>
              <a:t>Этап 3: Масштабирование (Месяц 2+). Подключение таргетированной рекламы на лучшие посты, коллаборации с местными бизнес-блогерами.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Команда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700">
                <a:solidFill>
                  <a:srgbClr val="404040"/>
                </a:solidFill>
              </a:rPr>
              <a:t>Стратег/Тимлид: Направляет контент под задачи продаж.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SMM-специалист / Копирайтер: Пишет тексты, ведет Telegram, публикует Stories.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Контент-мейкер/Мобилограф: Снимает Reels, монтирует динамичные видео.</a:t>
            </a:r>
          </a:p>
          <a:p>
            <a:pPr lvl="0"/>
            <a:r>
              <a:rPr lang="ru-RU" sz="1700">
                <a:solidFill>
                  <a:srgbClr val="404040"/>
                </a:solidFill>
              </a:rPr>
              <a:t>Дизайнер: Оформляет кейсы и карусели в едином стиле.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Сценарии для Reels/Shorts (Тренды 2026)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800">
                <a:solidFill>
                  <a:srgbClr val="404040"/>
                </a:solidFill>
              </a:rPr>
              <a:t>Вот 3 детализированных сценария под ваши конкретные темы, адаптированные под таджикский менталитет и бизнес-реалии.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Сценарий 1. «Кто мы такие и что делаем» (Знакомство / Репутация)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500" b="1">
                <a:solidFill>
                  <a:srgbClr val="404040"/>
                </a:solidFill>
              </a:rPr>
              <a:t>Цель: Заявить о позиционировании, вызвать доверие, показать масштаб.</a:t>
            </a:r>
          </a:p>
          <a:p>
            <a:pPr lvl="0"/>
            <a:r>
              <a:rPr lang="ru-RU" sz="1500" b="1">
                <a:solidFill>
                  <a:srgbClr val="404040"/>
                </a:solidFill>
              </a:rPr>
              <a:t>Визуал/Атмосфера: Динамичный, эстетичный монтаж. Эффектные переходы.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0:00-0:03 — Спикер уверенно смотрит в камеру в стильном офисе, на фоне рабочий процесс. Реплика: «В 2026 году просто "делать SMM" или "настроить рекламу" уже не работает...» Титр: Просто SMM больше не работает? ❌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0:03-0:08 — Быстрая нарезка (speed-up): клик на ноутбуке, график роста продаж, CRM, макет дизайна. Реплика: «Салом! Мы — Somoni Digital Agency. И мы не просто создаем контент. Мы строим системы для роста бизнеса.» Титр: Somoni Digital Agency. Системы для роста бизнеса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0:08-0:15 — Команда на брейншторме, маркерная доска с воронкой продаж. Реплика: «Маркетинг, автоматизация процессов и сильный контент. Мы объединяем это, чтобы ваш бизнес масштабировался, а не работал вслепую.» Титр: Маркетинг • Автоматизация • Контент 📈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0:15-0:20 — Спикер улыбается, жест приглашения. Реплика: «Хватит терять клиентов из-за хаоса. Переходите в профиль, давайте оцифруем ваш бизнес.» Титр: Подпишись и масштабируй бизнес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Сценарий 2. «Наше оборудование и бэкстейдж» (Экспертность / Технологичность)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500" b="1">
                <a:solidFill>
                  <a:srgbClr val="404040"/>
                </a:solidFill>
              </a:rPr>
              <a:t>Цель: Показать топовый уровень продакшена. В Таджикистане бизнес ценит «дорогой» и качественный визуал.</a:t>
            </a:r>
          </a:p>
          <a:p>
            <a:pPr lvl="0"/>
            <a:r>
              <a:rPr lang="ru-RU" sz="1500" b="1">
                <a:solidFill>
                  <a:srgbClr val="404040"/>
                </a:solidFill>
              </a:rPr>
              <a:t>Визуал/Атмосфера: ASMR-звуки (щелчки техники), макро-съемка камер, линз, микрофонов, студийного света.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0:00-0:03 — Крупный план: включается дорогой студийный свет (Aputure/Godox), освещая темную студию. Звук щелчка тумблера. Реплика: «Почему контент наших клиентов выглядит на миллион сомони?» Титр: Контент на миллион сомони? 💰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0:03-0:08 — Камера пролетает над техникой: камера Sony/Blackmagic, петлички (DJI Mic 2 / Rode), стабилизатор. Реплика: «Дело не только в креативе, но и в бескомпромиссном качестве. Мы в Somoni Digital используем кинооборудование...» Титр: Кинокамеры и топовый звук 🎥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0:08-0:13 — Кадр со съемок: оператор снимает Reels, картинка на мониторе сочная и профессиональная. Реплика: «...чтобы ваш бренд в ленте выглядел солидно, вызывал доверие и продавал с первого взгляда.» Титр: Картинка, которая продает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0:13-0:18 — Контент-мейкер подмигивает в камеру, собирая сетап. Реплика: «Хотите такой же уровень для своего бренда? Пишите в директ слово "СЪЕМКА".» Титр: Пиши «СЪЕМКА» в директ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</p:spPr>
        <p:txBody>
          <a:bodyPr/>
          <a:lstStyle/>
          <a:p>
            <a:r>
              <a:rPr lang="ru-RU" sz="2800" b="1">
                <a:solidFill>
                  <a:srgbClr val="1F2A66"/>
                </a:solidFill>
              </a:rPr>
              <a:t>Сценарий 3. «Наши проекты и результаты» (Кейсы / Доверие)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1277600" cy="5029200"/>
          </a:xfrm>
        </p:spPr>
        <p:txBody>
          <a:bodyPr>
            <a:normAutofit fontScale="100000"/>
          </a:bodyPr>
          <a:lstStyle/>
          <a:p>
            <a:pPr lvl="0"/>
            <a:r>
              <a:rPr lang="ru-RU" sz="1500" b="1">
                <a:solidFill>
                  <a:srgbClr val="404040"/>
                </a:solidFill>
              </a:rPr>
              <a:t>Цель: Доказать экспертность через социальное доказательство. Формат «Было / Стало».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0:00-0:03 — Спикер с задумчивым лицом держит телефон, на экране «Опять нет заявок». Реплика: «"Мы вложили деньги в рекламу, а звонков нет" — с этой болью к нам пришел один из брендов в Душанбе.» Титр: Вложили деньги, а толку 0? 📉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0:03-0:09 — Динамичная работа: разбор аналитики, внедрение CRM, воронки в WhatsApp. Реплика: «Что мы сделали? Полностью перестроили стратегию, внедрили автоматизацию ответов и упаковали контент.» Титр: Что изменили: 1. Стратегия 2. Автоматизация 3. Контент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0:09-0:14 — Спикер показывает на экране реальный график взлета продаж/воронки (конфиденциальное размыть, цифры роста оставить, напр. +150%). Реплика: «Результат: рост заявок на 150% уже в первый месяц и чистая экономия времени владельца бизнеса.» Титр: Результат: +150% заявок 🚀</a:t>
            </a:r>
          </a:p>
          <a:p>
            <a:pPr lvl="1"/>
            <a:r>
              <a:rPr lang="ru-RU" sz="1300">
                <a:solidFill>
                  <a:srgbClr val="404040"/>
                </a:solidFill>
              </a:rPr>
              <a:t>0:14-0:18 — Логотип Somoni Digital Agency на красивом фоне. Реплика: «Мы не обещаем чудес. Мы строим системы. Все кейсы смотрите в актуальном "Кейсы".» Титр: Смотри кейсы в актуальном!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A66"/>
      </a:dk2>
      <a:lt2>
        <a:srgbClr val="EEECE1"/>
      </a:lt2>
      <a:accent1>
        <a:srgbClr val="2E4BC6"/>
      </a:accent1>
      <a:accent2>
        <a:srgbClr val="7A3FA0"/>
      </a:accent2>
      <a:accent3>
        <a:srgbClr val="F2A90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